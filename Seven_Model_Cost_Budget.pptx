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57200"/>
            <a:ext cx="640080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spc="150" dirty="0">
                <a:solidFill>
                  <a:srgbClr val="0F6E5C"/>
                </a:solidFill>
                <a:latin typeface="IBM Plex Mono"/>
              </a:rPr>
              <a:t>ESTIMATED API SPEND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31520"/>
            <a:ext cx="68580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141D1B"/>
                </a:solidFill>
                <a:latin typeface="IBM Plex Serif"/>
              </a:rPr>
              <a:t>Seven-Model Cost Budget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87007" y="768096"/>
            <a:ext cx="146304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50" b="0" spc="110">
                <a:solidFill>
                  <a:srgbClr val="8A9691"/>
                </a:solidFill>
                <a:latin typeface="IBM Plex Sans"/>
              </a:rPr>
              <a:t>CALLS /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87007" y="96012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500" b="1">
                <a:solidFill>
                  <a:srgbClr val="141D1B"/>
                </a:solidFill>
                <a:latin typeface="IBM Plex Mono"/>
              </a:rPr>
              <a:t>1,939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78647" y="768096"/>
            <a:ext cx="146304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50" b="0" spc="110">
                <a:solidFill>
                  <a:srgbClr val="8A9691"/>
                </a:solidFill>
                <a:latin typeface="IBM Plex Sans"/>
              </a:rPr>
              <a:t>INPUT TOKENS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78647" y="96012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500" b="1">
                <a:solidFill>
                  <a:srgbClr val="141D1B"/>
                </a:solidFill>
                <a:latin typeface="IBM Plex Mono"/>
              </a:rPr>
              <a:t>5.03 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70287" y="768096"/>
            <a:ext cx="146304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50" b="0" spc="110">
                <a:solidFill>
                  <a:srgbClr val="8A9691"/>
                </a:solidFill>
                <a:latin typeface="IBM Plex Sans"/>
              </a:rPr>
              <a:t>OUTPUT TOKENS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70287" y="96012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500" b="1">
                <a:solidFill>
                  <a:srgbClr val="141D1B"/>
                </a:solidFill>
                <a:latin typeface="IBM Plex Mono"/>
              </a:rPr>
              <a:t>0.148 M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58368" y="1389888"/>
            <a:ext cx="10874959" cy="0"/>
          </a:xfrm>
          <a:prstGeom prst="line">
            <a:avLst/>
          </a:prstGeom>
          <a:ln w="19050">
            <a:solidFill>
              <a:srgbClr val="C3CD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58368" y="1554480"/>
            <a:ext cx="3239719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1" spc="100">
                <a:solidFill>
                  <a:srgbClr val="8A9691"/>
                </a:solidFill>
                <a:latin typeface="IBM Plex Sans"/>
              </a:rPr>
              <a:t>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80967" y="1554480"/>
            <a:ext cx="9144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50" b="1" spc="100">
                <a:solidFill>
                  <a:srgbClr val="8A9691"/>
                </a:solidFill>
                <a:latin typeface="IBM Plex Sans"/>
              </a:rPr>
              <a:t>$/M 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69687" y="1554480"/>
            <a:ext cx="9144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50" b="1" spc="100">
                <a:solidFill>
                  <a:srgbClr val="8A9691"/>
                </a:solidFill>
                <a:latin typeface="IBM Plex Sans"/>
              </a:rPr>
              <a:t>$/M 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95567" y="1554480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50" b="1" spc="100">
                <a:solidFill>
                  <a:srgbClr val="0F6E5C"/>
                </a:solidFill>
                <a:latin typeface="IBM Plex Sans"/>
              </a:rPr>
              <a:t>EXPECTED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7207" y="1554480"/>
            <a:ext cx="15544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50" b="1" spc="100">
                <a:solidFill>
                  <a:srgbClr val="8A6516"/>
                </a:solidFill>
                <a:latin typeface="IBM Plex Sans"/>
              </a:rPr>
              <a:t>BUDGET MAXED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61727" y="1554480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50" b="1" spc="100">
                <a:solidFill>
                  <a:srgbClr val="8A9691"/>
                </a:solidFill>
                <a:latin typeface="IBM Plex Sans"/>
              </a:rPr>
              <a:t>BATCH  −50%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58368" y="1828800"/>
            <a:ext cx="10874959" cy="0"/>
          </a:xfrm>
          <a:prstGeom prst="line">
            <a:avLst/>
          </a:prstGeom>
          <a:ln w="9525">
            <a:solidFill>
              <a:srgbClr val="DDE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58368" y="1920240"/>
            <a:ext cx="3239719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141D1B"/>
                </a:solidFill>
                <a:latin typeface="IBM Plex Sans"/>
              </a:rPr>
              <a:t>GPT-4o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80967" y="192024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>
                <a:solidFill>
                  <a:srgbClr val="5B6B66"/>
                </a:solidFill>
                <a:latin typeface="IBM Plex Mono"/>
              </a:rPr>
              <a:t>2.50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69687" y="192024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>
                <a:solidFill>
                  <a:srgbClr val="5B6B66"/>
                </a:solidFill>
                <a:latin typeface="IBM Plex Mono"/>
              </a:rPr>
              <a:t>10.00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95567" y="1920240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400" b="1">
                <a:solidFill>
                  <a:srgbClr val="0F6E5C"/>
                </a:solidFill>
                <a:latin typeface="IBM Plex Mono"/>
              </a:rPr>
              <a:t>$14.06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7207" y="1920240"/>
            <a:ext cx="15544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>
                <a:solidFill>
                  <a:srgbClr val="8A6516"/>
                </a:solidFill>
                <a:latin typeface="IBM Plex Mono"/>
              </a:rPr>
              <a:t>$18.01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61727" y="1920240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>
                <a:solidFill>
                  <a:srgbClr val="5B6B66"/>
                </a:solidFill>
                <a:latin typeface="IBM Plex Mono"/>
              </a:rPr>
              <a:t>$7.03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58368" y="2226564"/>
            <a:ext cx="10874959" cy="0"/>
          </a:xfrm>
          <a:prstGeom prst="line">
            <a:avLst/>
          </a:prstGeom>
          <a:ln w="9525">
            <a:solidFill>
              <a:srgbClr val="DDE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58368" y="2318004"/>
            <a:ext cx="3239719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141D1B"/>
                </a:solidFill>
                <a:latin typeface="IBM Plex Sans"/>
              </a:rPr>
              <a:t>GPT-4o-mini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80967" y="231800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>
                <a:solidFill>
                  <a:srgbClr val="5B6B66"/>
                </a:solidFill>
                <a:latin typeface="IBM Plex Mono"/>
              </a:rPr>
              <a:t>0.15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69687" y="231800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>
                <a:solidFill>
                  <a:srgbClr val="5B6B66"/>
                </a:solidFill>
                <a:latin typeface="IBM Plex Mono"/>
              </a:rPr>
              <a:t>0.60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95567" y="2318004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400" b="1">
                <a:solidFill>
                  <a:srgbClr val="0F6E5C"/>
                </a:solidFill>
                <a:latin typeface="IBM Plex Mono"/>
              </a:rPr>
              <a:t>$0.84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87207" y="2318004"/>
            <a:ext cx="15544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>
                <a:solidFill>
                  <a:srgbClr val="8A6516"/>
                </a:solidFill>
                <a:latin typeface="IBM Plex Mono"/>
              </a:rPr>
              <a:t>$1.08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61727" y="2318004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>
                <a:solidFill>
                  <a:srgbClr val="5B6B66"/>
                </a:solidFill>
                <a:latin typeface="IBM Plex Mono"/>
              </a:rPr>
              <a:t>$0.42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58368" y="2624328"/>
            <a:ext cx="10874959" cy="0"/>
          </a:xfrm>
          <a:prstGeom prst="line">
            <a:avLst/>
          </a:prstGeom>
          <a:ln w="9525">
            <a:solidFill>
              <a:srgbClr val="DDE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58368" y="2715768"/>
            <a:ext cx="3239719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141D1B"/>
                </a:solidFill>
                <a:latin typeface="IBM Plex Sans"/>
              </a:rPr>
              <a:t>GPT-5.2 (Thinking)</a:t>
            </a:r>
            <a:r>
              <a:rPr sz="900" b="0">
                <a:solidFill>
                  <a:srgbClr val="8A9691"/>
                </a:solidFill>
                <a:latin typeface="IBM Plex Sans"/>
              </a:rPr>
              <a:t>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80967" y="2715768"/>
            <a:ext cx="914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>
                <a:solidFill>
                  <a:srgbClr val="5B6B66"/>
                </a:solidFill>
                <a:latin typeface="IBM Plex Mono"/>
              </a:rPr>
              <a:t>1.75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69687" y="2715768"/>
            <a:ext cx="914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>
                <a:solidFill>
                  <a:srgbClr val="5B6B66"/>
                </a:solidFill>
                <a:latin typeface="IBM Plex Mono"/>
              </a:rPr>
              <a:t>14.00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95567" y="2715768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400" b="1">
                <a:solidFill>
                  <a:srgbClr val="0F6E5C"/>
                </a:solidFill>
                <a:latin typeface="IBM Plex Mono"/>
              </a:rPr>
              <a:t>$19.19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87207" y="2715768"/>
            <a:ext cx="15544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>
                <a:solidFill>
                  <a:srgbClr val="8A6516"/>
                </a:solidFill>
                <a:latin typeface="IBM Plex Mono"/>
              </a:rPr>
              <a:t>$25.12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61727" y="2715768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>
                <a:solidFill>
                  <a:srgbClr val="5B6B66"/>
                </a:solidFill>
                <a:latin typeface="IBM Plex Mono"/>
              </a:rPr>
              <a:t>$9.60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58368" y="3022092"/>
            <a:ext cx="10874959" cy="0"/>
          </a:xfrm>
          <a:prstGeom prst="line">
            <a:avLst/>
          </a:prstGeom>
          <a:ln w="9525">
            <a:solidFill>
              <a:srgbClr val="DDE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58368" y="3113532"/>
            <a:ext cx="3239719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141D1B"/>
                </a:solidFill>
                <a:latin typeface="IBM Plex Sans"/>
              </a:rPr>
              <a:t>GPT-5.4-mini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080967" y="3113532"/>
            <a:ext cx="914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>
                <a:solidFill>
                  <a:srgbClr val="5B6B66"/>
                </a:solidFill>
                <a:latin typeface="IBM Plex Mono"/>
              </a:rPr>
              <a:t>0.75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69687" y="3113532"/>
            <a:ext cx="914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>
                <a:solidFill>
                  <a:srgbClr val="5B6B66"/>
                </a:solidFill>
                <a:latin typeface="IBM Plex Mono"/>
              </a:rPr>
              <a:t>4.50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95567" y="3113532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400" b="1">
                <a:solidFill>
                  <a:srgbClr val="0F6E5C"/>
                </a:solidFill>
                <a:latin typeface="IBM Plex Mono"/>
              </a:rPr>
              <a:t>$4.44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87207" y="3113532"/>
            <a:ext cx="15544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>
                <a:solidFill>
                  <a:srgbClr val="8A6516"/>
                </a:solidFill>
                <a:latin typeface="IBM Plex Mono"/>
              </a:rPr>
              <a:t>$5.70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161727" y="3113532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>
                <a:solidFill>
                  <a:srgbClr val="5B6B66"/>
                </a:solidFill>
                <a:latin typeface="IBM Plex Mono"/>
              </a:rPr>
              <a:t>$2.22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658368" y="3419856"/>
            <a:ext cx="10874959" cy="0"/>
          </a:xfrm>
          <a:prstGeom prst="line">
            <a:avLst/>
          </a:prstGeom>
          <a:ln w="9525">
            <a:solidFill>
              <a:srgbClr val="DDE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658368" y="3511296"/>
            <a:ext cx="3239719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141D1B"/>
                </a:solidFill>
                <a:latin typeface="IBM Plex Sans"/>
              </a:rPr>
              <a:t>o4-mini</a:t>
            </a:r>
            <a:r>
              <a:rPr sz="900" b="0">
                <a:solidFill>
                  <a:srgbClr val="8A9691"/>
                </a:solidFill>
                <a:latin typeface="IBM Plex Sans"/>
              </a:rPr>
              <a:t>†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080967" y="3511296"/>
            <a:ext cx="914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>
                <a:solidFill>
                  <a:srgbClr val="5B6B66"/>
                </a:solidFill>
                <a:latin typeface="IBM Plex Mono"/>
              </a:rPr>
              <a:t>1.10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269687" y="3511296"/>
            <a:ext cx="914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>
                <a:solidFill>
                  <a:srgbClr val="5B6B66"/>
                </a:solidFill>
                <a:latin typeface="IBM Plex Mono"/>
              </a:rPr>
              <a:t>4.40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95567" y="3511296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400" b="1">
                <a:solidFill>
                  <a:srgbClr val="0F6E5C"/>
                </a:solidFill>
                <a:latin typeface="IBM Plex Mono"/>
              </a:rPr>
              <a:t>$8.80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87207" y="3511296"/>
            <a:ext cx="15544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>
                <a:solidFill>
                  <a:srgbClr val="8A6516"/>
                </a:solidFill>
                <a:latin typeface="IBM Plex Mono"/>
              </a:rPr>
              <a:t>$11.42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161727" y="3511296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>
                <a:solidFill>
                  <a:srgbClr val="5B6B66"/>
                </a:solidFill>
                <a:latin typeface="IBM Plex Mono"/>
              </a:rPr>
              <a:t>$4.40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658368" y="3817620"/>
            <a:ext cx="10874959" cy="0"/>
          </a:xfrm>
          <a:prstGeom prst="line">
            <a:avLst/>
          </a:prstGeom>
          <a:ln w="9525">
            <a:solidFill>
              <a:srgbClr val="DDE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658368" y="3909060"/>
            <a:ext cx="3239719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141D1B"/>
                </a:solidFill>
                <a:latin typeface="IBM Plex Sans"/>
              </a:rPr>
              <a:t>Llama 3.3 70B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080967" y="390906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>
                <a:solidFill>
                  <a:srgbClr val="5B6B66"/>
                </a:solidFill>
                <a:latin typeface="IBM Plex Mono"/>
              </a:rPr>
              <a:t>0.66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269687" y="390906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>
                <a:solidFill>
                  <a:srgbClr val="5B6B66"/>
                </a:solidFill>
                <a:latin typeface="IBM Plex Mono"/>
              </a:rPr>
              <a:t>0.66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95567" y="3909060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400" b="1">
                <a:solidFill>
                  <a:srgbClr val="0F6E5C"/>
                </a:solidFill>
                <a:latin typeface="IBM Plex Mono"/>
              </a:rPr>
              <a:t>$3.42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87207" y="3909060"/>
            <a:ext cx="15544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>
                <a:solidFill>
                  <a:srgbClr val="8A6516"/>
                </a:solidFill>
                <a:latin typeface="IBM Plex Mono"/>
              </a:rPr>
              <a:t>$4.36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161727" y="3909060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>
                <a:solidFill>
                  <a:srgbClr val="5B6B66"/>
                </a:solidFill>
                <a:latin typeface="IBM Plex Mono"/>
              </a:rPr>
              <a:t>$1.71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658368" y="4215384"/>
            <a:ext cx="10874959" cy="0"/>
          </a:xfrm>
          <a:prstGeom prst="line">
            <a:avLst/>
          </a:prstGeom>
          <a:ln w="9525">
            <a:solidFill>
              <a:srgbClr val="DDE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658368" y="4306824"/>
            <a:ext cx="3239719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141D1B"/>
                </a:solidFill>
                <a:latin typeface="IBM Plex Sans"/>
              </a:rPr>
              <a:t>Gemini 3.5 Flash</a:t>
            </a:r>
            <a:r>
              <a:rPr sz="850" b="0">
                <a:solidFill>
                  <a:srgbClr val="8A9691"/>
                </a:solidFill>
                <a:latin typeface="IBM Plex Sans"/>
              </a:rPr>
              <a:t>  (thinking off)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080967" y="430682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>
                <a:solidFill>
                  <a:srgbClr val="5B6B66"/>
                </a:solidFill>
                <a:latin typeface="IBM Plex Mono"/>
              </a:rPr>
              <a:t>1.50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269687" y="430682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>
                <a:solidFill>
                  <a:srgbClr val="5B6B66"/>
                </a:solidFill>
                <a:latin typeface="IBM Plex Mono"/>
              </a:rPr>
              <a:t>9.00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595567" y="4306824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400" b="1">
                <a:solidFill>
                  <a:srgbClr val="0F6E5C"/>
                </a:solidFill>
                <a:latin typeface="IBM Plex Mono"/>
              </a:rPr>
              <a:t>$8.88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287207" y="4306824"/>
            <a:ext cx="15544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>
                <a:solidFill>
                  <a:srgbClr val="8A6516"/>
                </a:solidFill>
                <a:latin typeface="IBM Plex Mono"/>
              </a:rPr>
              <a:t>$11.40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161727" y="4306824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>
                <a:solidFill>
                  <a:srgbClr val="5B6B66"/>
                </a:solidFill>
                <a:latin typeface="IBM Plex Mono"/>
              </a:rPr>
              <a:t>$4.44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658368" y="4613148"/>
            <a:ext cx="10874959" cy="0"/>
          </a:xfrm>
          <a:prstGeom prst="line">
            <a:avLst/>
          </a:prstGeom>
          <a:ln w="19050">
            <a:solidFill>
              <a:srgbClr val="C3CD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658368" y="4722876"/>
            <a:ext cx="323971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141D1B"/>
                </a:solidFill>
                <a:latin typeface="IBM Plex Serif"/>
              </a:rPr>
              <a:t>All seven models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595567" y="4686300"/>
            <a:ext cx="13716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800" b="1">
                <a:solidFill>
                  <a:srgbClr val="0F6E5C"/>
                </a:solidFill>
                <a:latin typeface="IBM Plex Mono"/>
              </a:rPr>
              <a:t>$59.63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287207" y="4686300"/>
            <a:ext cx="15544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500" b="1">
                <a:solidFill>
                  <a:srgbClr val="8A6516"/>
                </a:solidFill>
                <a:latin typeface="IBM Plex Mono"/>
              </a:rPr>
              <a:t>$77.10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161727" y="4686300"/>
            <a:ext cx="13716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500" b="1">
                <a:solidFill>
                  <a:srgbClr val="5B6B66"/>
                </a:solidFill>
                <a:latin typeface="IBM Plex Mono"/>
              </a:rPr>
              <a:t>$29.82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658368" y="5458968"/>
            <a:ext cx="10874959" cy="0"/>
          </a:xfrm>
          <a:prstGeom prst="line">
            <a:avLst/>
          </a:prstGeom>
          <a:ln w="9525">
            <a:solidFill>
              <a:srgbClr val="DDE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658368" y="5623560"/>
            <a:ext cx="2407843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1" spc="100">
                <a:solidFill>
                  <a:srgbClr val="8A9691"/>
                </a:solidFill>
                <a:latin typeface="IBM Plex Sans"/>
              </a:rPr>
              <a:t>WHERE THE TWO COLUMNS DIFFER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58368" y="5824728"/>
            <a:ext cx="2407843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5B6B66"/>
                </a:solidFill>
                <a:latin typeface="IBM Plex Sans"/>
              </a:rPr>
              <a:t>Expected uses repairs actually consumed — 77 everyday, 194 hard. Budget maxed assumes every task exhausts its cap: 3,194 calls.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3230803" y="5605272"/>
            <a:ext cx="0" cy="932688"/>
          </a:xfrm>
          <a:prstGeom prst="line">
            <a:avLst/>
          </a:prstGeom>
          <a:ln w="9525">
            <a:solidFill>
              <a:srgbClr val="DDE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3377107" y="5623560"/>
            <a:ext cx="2407843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1" spc="100">
                <a:solidFill>
                  <a:srgbClr val="8A9691"/>
                </a:solidFill>
                <a:latin typeface="IBM Plex Sans"/>
              </a:rPr>
              <a:t>INPUT IS 97% OF THE BILL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377107" y="5824728"/>
            <a:ext cx="2407843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5B6B66"/>
                </a:solidFill>
                <a:latin typeface="IBM Plex Sans"/>
              </a:rPr>
              <a:t>The 2,600-token one-shot template rides on all 1,939 calls. Prompt caching cuts it hard — Gemini's cached tier is $0.15/M.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5949543" y="5605272"/>
            <a:ext cx="0" cy="932688"/>
          </a:xfrm>
          <a:prstGeom prst="line">
            <a:avLst/>
          </a:prstGeom>
          <a:ln w="9525">
            <a:solidFill>
              <a:srgbClr val="DDE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6095847" y="5623560"/>
            <a:ext cx="2407843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1" spc="100">
                <a:solidFill>
                  <a:srgbClr val="8A9691"/>
                </a:solidFill>
                <a:latin typeface="IBM Plex Sans"/>
              </a:rPr>
              <a:t>BATCH IS THE FREE HALVING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95847" y="5824728"/>
            <a:ext cx="2407843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5B6B66"/>
                </a:solidFill>
                <a:latin typeface="IBM Plex Sans"/>
              </a:rPr>
              <a:t>Offline scoring, no latency need. OpenAI and Google both discount batch 50%, taking the total to $29.82.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8668283" y="5605272"/>
            <a:ext cx="0" cy="932688"/>
          </a:xfrm>
          <a:prstGeom prst="line">
            <a:avLst/>
          </a:prstGeom>
          <a:ln w="9525">
            <a:solidFill>
              <a:srgbClr val="DDE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8814587" y="5623560"/>
            <a:ext cx="2407843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1" spc="100">
                <a:solidFill>
                  <a:srgbClr val="8A9691"/>
                </a:solidFill>
                <a:latin typeface="IBM Plex Sans"/>
              </a:rPr>
              <a:t>†  REASONING ASSUMPTION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814587" y="5824728"/>
            <a:ext cx="2407843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5B6B66"/>
                </a:solidFill>
                <a:latin typeface="IBM Plex Sans"/>
              </a:rPr>
              <a:t>GPT-5.2 and o4-mini billed at 5× visible output. Least certain figure here — worth measuring on five tasks.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228</Words>
  <Application>Microsoft Macintosh PowerPoint</Application>
  <PresentationFormat>Widescreen</PresentationFormat>
  <Paragraphs>68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IBM Plex Mono</vt:lpstr>
      <vt:lpstr>IBM Plex Sans</vt:lpstr>
      <vt:lpstr>IBM Plex Serif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Abdullayeva, Aytaj</cp:lastModifiedBy>
  <cp:revision>2</cp:revision>
  <dcterms:created xsi:type="dcterms:W3CDTF">2013-01-27T09:14:16Z</dcterms:created>
  <dcterms:modified xsi:type="dcterms:W3CDTF">2026-09-06T23:50:39Z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f2ff711-767d-49e4-8de8-6dc66c541869_Enabled">
    <vt:lpwstr>true</vt:lpwstr>
  </property>
  <property fmtid="{D5CDD505-2E9C-101B-9397-08002B2CF9AE}" pid="3" name="MSIP_Label_3f2ff711-767d-49e4-8de8-6dc66c541869_SetDate">
    <vt:lpwstr>2026-09-06T23:50:39Z</vt:lpwstr>
  </property>
  <property fmtid="{D5CDD505-2E9C-101B-9397-08002B2CF9AE}" pid="4" name="MSIP_Label_3f2ff711-767d-49e4-8de8-6dc66c541869_Method">
    <vt:lpwstr>Standard</vt:lpwstr>
  </property>
  <property fmtid="{D5CDD505-2E9C-101B-9397-08002B2CF9AE}" pid="5" name="MSIP_Label_3f2ff711-767d-49e4-8de8-6dc66c541869_Name">
    <vt:lpwstr>defa4170-0d19-0005-0004-bc88714345d2</vt:lpwstr>
  </property>
  <property fmtid="{D5CDD505-2E9C-101B-9397-08002B2CF9AE}" pid="6" name="MSIP_Label_3f2ff711-767d-49e4-8de8-6dc66c541869_SiteId">
    <vt:lpwstr>9a21e1ab-b7a7-4f82-8fd0-170bb7e09f92</vt:lpwstr>
  </property>
  <property fmtid="{D5CDD505-2E9C-101B-9397-08002B2CF9AE}" pid="7" name="MSIP_Label_3f2ff711-767d-49e4-8de8-6dc66c541869_ActionId">
    <vt:lpwstr>263b6a42-88e0-46bb-b3ac-7e6b4baa65c0</vt:lpwstr>
  </property>
  <property fmtid="{D5CDD505-2E9C-101B-9397-08002B2CF9AE}" pid="8" name="MSIP_Label_3f2ff711-767d-49e4-8de8-6dc66c541869_ContentBits">
    <vt:lpwstr>0</vt:lpwstr>
  </property>
  <property fmtid="{D5CDD505-2E9C-101B-9397-08002B2CF9AE}" pid="9" name="MSIP_Label_3f2ff711-767d-49e4-8de8-6dc66c541869_Tag">
    <vt:lpwstr>50, 3, 0, 1</vt:lpwstr>
  </property>
</Properties>
</file>