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6F5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Rebuild sequence</c:v>
                </c:pt>
                <c:pt idx="1">
                  <c:v>Add missing step</c:v>
                </c:pt>
                <c:pt idx="2">
                  <c:v>Patch this action</c:v>
                </c:pt>
                <c:pt idx="3">
                  <c:v>Already done</c:v>
                </c:pt>
                <c:pt idx="4">
                  <c:v>Swap the action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37</c:v>
                </c:pt>
                <c:pt idx="2">
                  <c:v>15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B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CE1DD"/>
            </a:solidFill>
          </a:ln>
        </c:spPr>
        <c:txPr>
          <a:bodyPr/>
          <a:lstStyle/>
          <a:p>
            <a:pPr>
              <a:defRPr sz="1100">
                <a:solidFill>
                  <a:srgbClr val="1B21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C6B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Fixed</c:v>
                </c:pt>
              </c:strCache>
            </c:strRef>
          </c:tx>
          <c:spPr>
            <a:solidFill>
              <a:srgbClr val="2E7D4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Rebuild sequence</c:v>
                </c:pt>
                <c:pt idx="1">
                  <c:v>Add missing step</c:v>
                </c:pt>
                <c:pt idx="2">
                  <c:v>Patch this action</c:v>
                </c:pt>
                <c:pt idx="3">
                  <c:v>Already done</c:v>
                </c:pt>
                <c:pt idx="4">
                  <c:v>Swap the action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37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Gave up</c:v>
                </c:pt>
              </c:strCache>
            </c:strRef>
          </c:tx>
          <c:spPr>
            <a:solidFill>
              <a:srgbClr val="B23A2E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Rebuild sequence</c:v>
                </c:pt>
                <c:pt idx="1">
                  <c:v>Add missing step</c:v>
                </c:pt>
                <c:pt idx="2">
                  <c:v>Patch this action</c:v>
                </c:pt>
                <c:pt idx="3">
                  <c:v>Already done</c:v>
                </c:pt>
                <c:pt idx="4">
                  <c:v>Swap the action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CE1DD"/>
            </a:solidFill>
          </a:ln>
        </c:spPr>
        <c:txPr>
          <a:bodyPr/>
          <a:lstStyle/>
          <a:p>
            <a:pPr>
              <a:defRPr sz="1100">
                <a:solidFill>
                  <a:srgbClr val="1B21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Calibr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C6B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6F5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Add missing step</c:v>
                </c:pt>
                <c:pt idx="1">
                  <c:v>Rebuild sequence</c:v>
                </c:pt>
                <c:pt idx="2">
                  <c:v>Patch this action</c:v>
                </c:pt>
                <c:pt idx="3">
                  <c:v>Already done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  <c:pt idx="2">
                  <c:v>14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1B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CE1DD"/>
            </a:solidFill>
          </a:ln>
        </c:spPr>
        <c:txPr>
          <a:bodyPr/>
          <a:lstStyle/>
          <a:p>
            <a:pPr>
              <a:defRPr sz="1100">
                <a:solidFill>
                  <a:srgbClr val="1B21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C6B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Fixed</c:v>
                </c:pt>
              </c:strCache>
            </c:strRef>
          </c:tx>
          <c:spPr>
            <a:solidFill>
              <a:srgbClr val="2E7D4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Add missing step</c:v>
                </c:pt>
                <c:pt idx="1">
                  <c:v>Rebuild sequence</c:v>
                </c:pt>
                <c:pt idx="2">
                  <c:v>Patch this action</c:v>
                </c:pt>
                <c:pt idx="3">
                  <c:v>Already done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38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Gave up</c:v>
                </c:pt>
              </c:strCache>
            </c:strRef>
          </c:tx>
          <c:spPr>
            <a:solidFill>
              <a:srgbClr val="B23A2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Add missing step</c:v>
                </c:pt>
                <c:pt idx="1">
                  <c:v>Rebuild sequence</c:v>
                </c:pt>
                <c:pt idx="2">
                  <c:v>Patch this action</c:v>
                </c:pt>
                <c:pt idx="3">
                  <c:v>Already done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CE1DD"/>
            </a:solidFill>
          </a:ln>
        </c:spPr>
        <c:txPr>
          <a:bodyPr/>
          <a:lstStyle/>
          <a:p>
            <a:pPr>
              <a:defRPr sz="1100">
                <a:solidFill>
                  <a:srgbClr val="1B21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50">
              <a:latin typeface="Calibr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5C6B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1517904"/>
            <a:ext cx="91440" cy="9144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40817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6F5C"/>
                </a:solidFill>
                <a:latin typeface="Consolas"/>
              </a:rPr>
              <a:t>A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8308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B211F"/>
                </a:solidFill>
                <a:latin typeface="Consolas"/>
              </a:rPr>
              <a:t>How the Repair Loop
Actually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5C6B66"/>
                </a:solidFill>
                <a:latin typeface="Calibri"/>
              </a:rPr>
              <a:t>What happens when a household robot's plan breaks mid-task — how the system traces the real cause, why it asks a language model for judgment instead of solving it by rule alone, and how well the whole thing performs.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6F5C"/>
                </a:solidFill>
                <a:latin typeface="Consolas"/>
              </a:rP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A968F"/>
                </a:solidFill>
                <a:latin typeface="Consolas"/>
              </a:rPr>
              <a:t>FAILURES DIAGNOSED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44348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6F5C"/>
                </a:solidFill>
                <a:latin typeface="Consolas"/>
              </a:rPr>
              <a:t>91.9%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4983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A968F"/>
                </a:solidFill>
                <a:latin typeface="Consolas"/>
              </a:rPr>
              <a:t>FIXED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4348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6F5C"/>
                </a:solidFill>
                <a:latin typeface="Consolas"/>
              </a:rPr>
              <a:t>392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983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A968F"/>
                </a:solidFill>
                <a:latin typeface="Consolas"/>
              </a:rPr>
              <a:t>TASKS TESTED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The first plan is rarely the last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A language model's first attempt at a plan usually looks reasonable — and usually breaks somewhere in the middle. Here, the robot is told to wash a load of laundry: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874519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0">
                <a:solidFill>
                  <a:srgbClr val="1B211F"/>
                </a:solidFill>
                <a:latin typeface="Calibri"/>
              </a:rPr>
              <a:t>Walk to washing
machine  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599" y="2903220.0"/>
            <a:ext cx="256032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0631" y="2514600"/>
            <a:ext cx="1874519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0">
                <a:solidFill>
                  <a:srgbClr val="1B211F"/>
                </a:solidFill>
                <a:latin typeface="Calibri"/>
              </a:rPr>
              <a:t>Open it  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45150" y="2903220.0"/>
            <a:ext cx="256032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01182" y="2514600"/>
            <a:ext cx="1874519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0">
                <a:solidFill>
                  <a:srgbClr val="1B211F"/>
                </a:solidFill>
                <a:latin typeface="Calibri"/>
              </a:rPr>
              <a:t>Pick up soap  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75701" y="2903220.0"/>
            <a:ext cx="256032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31733" y="2514600"/>
            <a:ext cx="1874519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0">
                <a:solidFill>
                  <a:srgbClr val="1B211F"/>
                </a:solidFill>
                <a:latin typeface="Calibri"/>
              </a:rPr>
              <a:t>Pick up a dress  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06252" y="2903220.0"/>
            <a:ext cx="256032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62284" y="2514600"/>
            <a:ext cx="1874519" cy="777240"/>
          </a:xfrm>
          <a:prstGeom prst="roundRect">
            <a:avLst>
              <a:gd name="adj" fmla="val 16000"/>
            </a:avLst>
          </a:prstGeom>
          <a:solidFill>
            <a:srgbClr val="FBE8E5"/>
          </a:solidFill>
          <a:ln w="1905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B23A2E"/>
                </a:solidFill>
                <a:latin typeface="Calibri"/>
              </a:rPr>
              <a:t>Pick up pants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6B66"/>
                </a:solidFill>
                <a:latin typeface="Calibri"/>
              </a:rPr>
              <a:t>Both hands are already full. The plan didn't account for that — and without some way to recover, this is where the task simply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B211F"/>
                </a:solidFill>
                <a:latin typeface="Calibri"/>
              </a:rPr>
              <a:t>Even given three separate tries</a:t>
            </a:r>
            <a:r>
              <a:rPr sz="1500" b="0" i="0">
                <a:solidFill>
                  <a:srgbClr val="5C6B66"/>
                </a:solidFill>
                <a:latin typeface="Calibri"/>
              </a:rPr>
              <a:t> with no diagnosis or repair — just plan, attempt, and try fresh on failure — that only succeeds </a:t>
            </a:r>
            <a:r>
              <a:rPr sz="1500" b="1" i="0">
                <a:solidFill>
                  <a:srgbClr val="1B211F"/>
                </a:solidFill>
                <a:latin typeface="Consolas"/>
              </a:rPr>
              <a:t>15–78%</a:t>
            </a:r>
            <a:r>
              <a:rPr sz="1500" b="0" i="0">
                <a:solidFill>
                  <a:srgbClr val="5C6B66"/>
                </a:solidFill>
                <a:latin typeface="Calibri"/>
              </a:rPr>
              <a:t> of the time, depending how demanding the task is. Everything from here is what closes that gap in a single, informed attempt.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02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Four steps, every time something breaks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39572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50008"/>
            <a:ext cx="365760" cy="365760"/>
          </a:xfrm>
          <a:prstGeom prst="ellipse">
            <a:avLst/>
          </a:prstGeom>
          <a:solidFill>
            <a:srgbClr val="E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986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6440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66"/>
                </a:solidFill>
                <a:latin typeface="Calibri"/>
              </a:rPr>
              <a:t>figure out what kind of
failure this 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2994660.0"/>
            <a:ext cx="320040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55848" y="2148840"/>
            <a:ext cx="239572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57016" y="2350008"/>
            <a:ext cx="365760" cy="365760"/>
          </a:xfrm>
          <a:prstGeom prst="ellipse">
            <a:avLst/>
          </a:prstGeom>
          <a:solidFill>
            <a:srgbClr val="E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8986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Trace the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26440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66"/>
                </a:solidFill>
                <a:latin typeface="Calibri"/>
              </a:rPr>
              <a:t>find the exact moment
things went wrong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51576" y="2994660.0"/>
            <a:ext cx="320040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71616" y="2148840"/>
            <a:ext cx="239572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2784" y="2350008"/>
            <a:ext cx="365760" cy="365760"/>
          </a:xfrm>
          <a:prstGeom prst="ellipse">
            <a:avLst/>
          </a:prstGeom>
          <a:solidFill>
            <a:srgbClr val="E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8986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Search for a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26440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66"/>
                </a:solidFill>
                <a:latin typeface="Calibri"/>
              </a:rPr>
              <a:t>explore ways to satisfy
what's missing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67344" y="2994660.0"/>
            <a:ext cx="320040" cy="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87384" y="2148840"/>
            <a:ext cx="239572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88552" y="2350008"/>
            <a:ext cx="365760" cy="365760"/>
          </a:xfrm>
          <a:prstGeom prst="ellipse">
            <a:avLst/>
          </a:prstGeom>
          <a:solidFill>
            <a:srgbClr val="E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8986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11F"/>
                </a:solidFill>
                <a:latin typeface="Calibri"/>
              </a:rPr>
              <a:t>Weave it back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326440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66"/>
                </a:solidFill>
                <a:latin typeface="Calibri"/>
              </a:rPr>
              <a:t>rejoin the rest of the
original plan and retry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6052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50" b="0">
                <a:solidFill>
                  <a:srgbClr val="8A968F"/>
                </a:solidFill>
                <a:latin typeface="Calibri"/>
              </a:rPr>
              <a:t>↺   up to three tries per task — each re-runs the whole plan from the 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A language model is only asked for input once in this loop, for a short hint at step 3. Steps 1, 2 and 4 are handled entirely by rule — the same rules the simulated house itself runs 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03 ·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Diagnose: what kind of failure is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The house doesn't explain why an action failed — so the system replays what happened and works it out. Three shapes of failure come up in practice: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79192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A step was skipped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Something the action needed was never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08376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66"/>
                </a:solidFill>
                <a:latin typeface="Calibri"/>
              </a:rPr>
              <a:t>e.g. trying to put an item away that was never picked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2102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02736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Steps happened out of order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Everything needed did happen, just in the wrong sequence.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931920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66"/>
                </a:solidFill>
                <a:latin typeface="Calibri"/>
              </a:rPr>
              <a:t>e.g. both hands filled up before the plan tried to pick up a third item.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4456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526280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The object can't do that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The action doesn't apply to this object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855464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66"/>
                </a:solidFill>
                <a:latin typeface="Calibri"/>
              </a:rPr>
              <a:t>e.g. asking the character to lie down on something you can't lie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04 ·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B211F"/>
                </a:solidFill>
                <a:latin typeface="Consolas"/>
              </a:rPr>
              <a:t>Tracing back to the real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The system replays the plan from the very beginning and watches for the exact moment things stopped being true — not the step that just failed, but whatever happened earlier that actually caused it. Then it picks how to respond: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9933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26664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6F5C"/>
                </a:solidFill>
                <a:latin typeface="Calibri"/>
              </a:rPr>
              <a:t>Add the missing
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749040"/>
            <a:ext cx="17007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66"/>
                </a:solidFill>
                <a:latin typeface="Calibri"/>
              </a:rPr>
              <a:t>One small thing was skipped.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709160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68F"/>
                </a:solidFill>
                <a:latin typeface="Calibri"/>
              </a:rPr>
              <a:t>walk over, stand up, face the object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2880360"/>
            <a:ext cx="19933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3026664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6F5C"/>
                </a:solidFill>
                <a:latin typeface="Calibri"/>
              </a:rPr>
              <a:t>Patch this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749040"/>
            <a:ext cx="17007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66"/>
                </a:solidFill>
                <a:latin typeface="Calibri"/>
              </a:rPr>
              <a:t>The object can't do what was asked.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4709160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68F"/>
                </a:solidFill>
                <a:latin typeface="Calibri"/>
              </a:rPr>
              <a:t>try a close variation, same spot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2880360"/>
            <a:ext cx="19933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026664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6F5C"/>
                </a:solidFill>
                <a:latin typeface="Calibri"/>
              </a:rPr>
              <a:t>Swap the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49040"/>
            <a:ext cx="17007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66"/>
                </a:solidFill>
                <a:latin typeface="Calibri"/>
              </a:rPr>
              <a:t>The step itself was the wrong idea.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709160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68F"/>
                </a:solidFill>
                <a:latin typeface="Calibri"/>
              </a:rPr>
              <a:t>ask for a different one entirely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4" y="2880360"/>
            <a:ext cx="1993392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8" y="3026664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6F5C"/>
                </a:solidFill>
                <a:latin typeface="Calibri"/>
              </a:rPr>
              <a:t>Already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749040"/>
            <a:ext cx="17007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66"/>
                </a:solidFill>
                <a:latin typeface="Calibri"/>
              </a:rPr>
              <a:t>The goal is already true.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4709160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68F"/>
                </a:solidFill>
                <a:latin typeface="Calibri"/>
              </a:rPr>
              <a:t>drop the now-pointless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2880360"/>
            <a:ext cx="1993392" cy="2331720"/>
          </a:xfrm>
          <a:prstGeom prst="roundRect">
            <a:avLst>
              <a:gd name="adj" fmla="val 8000"/>
            </a:avLst>
          </a:prstGeom>
          <a:solidFill>
            <a:srgbClr val="E4F1EC"/>
          </a:solidFill>
          <a:ln w="1905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3026664"/>
            <a:ext cx="17007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6F5C"/>
                </a:solidFill>
                <a:latin typeface="Calibri"/>
              </a:rPr>
              <a:t>Rebuild the
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749040"/>
            <a:ext cx="17007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66"/>
                </a:solidFill>
                <a:latin typeface="Calibri"/>
              </a:rPr>
              <a:t>Everything else — more than one thing needs to change, or no single-step patch applies.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4709160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968F"/>
                </a:solidFill>
                <a:latin typeface="Calibri"/>
              </a:rPr>
              <a:t>hands off to the full search,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05 ·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Searching for a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For the general case, the system explores possible next actions and keeps the shortest sequence that actually satisfies what's missing — checked directly against the same rules the house itself enforces. Three sources of ideas: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70632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Rule-based fixes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Open a closed door, free up a hand, walk to the right spot.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99816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C6B66"/>
                </a:solidFill>
                <a:latin typeface="Calibri"/>
              </a:rPr>
              <a:t>Worked out directly from what's known about the objects involved — no guessing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94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75888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A hint from the language model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A short list of suggested actions naming what might fix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005072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C6B66"/>
                </a:solidFill>
                <a:latin typeface="Calibri"/>
              </a:rPr>
              <a:t>Treated as ideas to test, not something accepted on faith.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9943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581144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What the plan was already trying to do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Keeps the search from losing track of steps it still needs to cover.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06 ·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Weave it back in, then try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The fix gets stitched into the original plan and the whole thing re-runs from the top. Three specific safeguards keep that stitching from causing new problems: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79192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Put things where they belong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If both hands are full, the fix delivers a held item to where it was actually supposed to end up — not just the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19855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01567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Reopen what got closed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If something needed is stuck behind a door another fix just shut, the system reopens it, retrieves what it needs, then restores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4223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123942"/>
            <a:ext cx="9802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Don't discard a necessary step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A pickup that's the actual cause of a problem still has to happen eventually — it's no longer thrown away just for being the trigger.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07 · WHY A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The search space is enormous,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6B66"/>
                </a:solidFill>
                <a:latin typeface="Calibri"/>
              </a:rPr>
              <a:t>The house understands </a:t>
            </a:r>
            <a:r>
              <a:rPr sz="1450" b="1" i="0">
                <a:solidFill>
                  <a:srgbClr val="1B211F"/>
                </a:solidFill>
                <a:latin typeface="Consolas"/>
              </a:rPr>
              <a:t>41</a:t>
            </a:r>
            <a:r>
              <a:rPr sz="1450" b="0" i="0">
                <a:solidFill>
                  <a:srgbClr val="5C6B66"/>
                </a:solidFill>
                <a:latin typeface="Calibri"/>
              </a:rPr>
              <a:t> distinct actions and holds roughly </a:t>
            </a:r>
            <a:r>
              <a:rPr sz="1450" b="1" i="0">
                <a:solidFill>
                  <a:srgbClr val="1B211F"/>
                </a:solidFill>
                <a:latin typeface="Consolas"/>
              </a:rPr>
              <a:t>290</a:t>
            </a:r>
            <a:r>
              <a:rPr sz="1450" b="0" i="0">
                <a:solidFill>
                  <a:srgbClr val="5C6B66"/>
                </a:solidFill>
                <a:latin typeface="Calibri"/>
              </a:rPr>
              <a:t> objects in an average scene. Checked blindly — before even considering actions involving two objects at once — that's a lot to get through before finding one valid repair.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8A9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200" b="1">
                <a:solidFill>
                  <a:srgbClr val="1B211F"/>
                </a:solidFill>
                <a:latin typeface="Consolas"/>
              </a:rPr>
              <a:t>~12,000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6168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C6B66"/>
                </a:solidFill>
                <a:latin typeface="Calibri"/>
              </a:rPr>
              <a:t>raw action–object combinations, checked blindly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200400" y="3337560.0"/>
            <a:ext cx="960120" cy="22860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27248" y="249631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8A968F"/>
                </a:solidFill>
                <a:latin typeface="Calibri"/>
              </a:rPr>
              <a:t>language
model
proposes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081528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200" b="1">
                <a:solidFill>
                  <a:srgbClr val="1F6F5C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151376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C6B66"/>
                </a:solidFill>
                <a:latin typeface="Calibri"/>
              </a:rPr>
              <a:t>candidate actions, typically — the median across every failure this session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561588.0"/>
            <a:ext cx="914400" cy="182880.0"/>
          </a:xfrm>
          <a:prstGeom prst="line">
            <a:avLst/>
          </a:prstGeom>
          <a:ln w="19050">
            <a:solidFill>
              <a:srgbClr val="8A968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23560" y="26974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A968F"/>
                </a:solidFill>
                <a:latin typeface="Calibri"/>
              </a:rPr>
              <a:t>rules verify</a:t>
            </a:r>
          </a:p>
        </p:txBody>
      </p:sp>
      <p:sp>
        <p:nvSpPr>
          <p:cNvPr id="15" name="Oval 14"/>
          <p:cNvSpPr/>
          <p:nvPr/>
        </p:nvSpPr>
        <p:spPr>
          <a:xfrm>
            <a:off x="6812280" y="3310128"/>
            <a:ext cx="868680" cy="868680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88536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C6B66"/>
                </a:solidFill>
                <a:latin typeface="Calibri"/>
              </a:rPr>
              <a:t>repair actually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Something has to narrow the field before exact checking is even feasible. That narrowing step is where judgment — not more search — earns its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08 · WHY A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Think of it as a doctor and a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E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alibri"/>
              </a:rPr>
              <a:t>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031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11F"/>
                </a:solidFill>
                <a:latin typeface="Calibri"/>
              </a:rPr>
              <a:t>The language model is the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6B66"/>
                </a:solidFill>
                <a:latin typeface="Calibri"/>
              </a:rPr>
              <a:t>It looks at the failure and suggests what might fix it — typically about three candidate actions per failure, drawn from everyday judgment about how a house actually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6B66"/>
                </a:solidFill>
                <a:latin typeface="Calibri"/>
              </a:rPr>
              <a:t>A doctor's judgment is what narrows down a huge range of possibilities to a short, plausible list. It isn't the final 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830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63640" y="2011680"/>
            <a:ext cx="502920" cy="502920"/>
          </a:xfrm>
          <a:prstGeom prst="ellipse">
            <a:avLst/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5C6B66"/>
                </a:solidFill>
                <a:latin typeface="Calibri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031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11F"/>
                </a:solidFill>
                <a:latin typeface="Calibri"/>
              </a:rPr>
              <a:t>The rule-based checker is the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834640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6B66"/>
                </a:solidFill>
                <a:latin typeface="Calibri"/>
              </a:rPr>
              <a:t>It doesn't take the doctor's suggestions on faith. For each one, it can only answer one of two things: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40"/>
            <a:ext cx="2240280" cy="1371600"/>
          </a:xfrm>
          <a:prstGeom prst="roundRect">
            <a:avLst>
              <a:gd name="adj" fmla="val 10000"/>
            </a:avLst>
          </a:prstGeom>
          <a:solidFill>
            <a:srgbClr val="FB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23A2E"/>
                </a:solidFill>
                <a:latin typeface="Calibri"/>
              </a:rPr>
              <a:t>Provably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23A2E"/>
                </a:solidFill>
                <a:latin typeface="Calibri"/>
              </a:rPr>
              <a:t>rejected outright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3749040"/>
            <a:ext cx="2240280" cy="1371600"/>
          </a:xfrm>
          <a:prstGeom prst="roundRect">
            <a:avLst>
              <a:gd name="adj" fmla="val 1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3931920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C6B66"/>
                </a:solidFill>
                <a:latin typeface="Calibri"/>
              </a:rPr>
              <a:t>Can't rule it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29768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C6B66"/>
                </a:solidFill>
                <a:latin typeface="Calibri"/>
              </a:rPr>
              <a:t>passes through for the search to 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09 · WHY A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11F"/>
                </a:solidFill>
                <a:latin typeface="Consolas"/>
              </a:rPr>
              <a:t>The lab has the final word, 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A structured search explores only what the lab didn't rule out, and returns the shortest sequence that actually resolves the problem. Nothing downstream of that search asks the language model anything — it's ordinary, deterministic code from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10241280" cy="2377440"/>
          </a:xfrm>
          <a:prstGeom prst="roundRect">
            <a:avLst>
              <a:gd name="adj" fmla="val 6000"/>
            </a:avLst>
          </a:prstGeom>
          <a:solidFill>
            <a:srgbClr val="E4F1EC"/>
          </a:solidFill>
          <a:ln w="22225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11F"/>
                </a:solidFill>
                <a:latin typeface="Calibri"/>
              </a:rPr>
              <a:t>The guarantee this gives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9509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5C6B66"/>
                </a:solidFill>
                <a:latin typeface="Calibri"/>
              </a:rPr>
              <a:t>The language model cannot make a broken repair pass. At worst, its suggestions are all rejected — and the step gets dropped, which can cost a goal, but it is never silently accepted as a fix that doesn't actually hold up. A wrong idea costs progress. It never costs correctness.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10 · WHY A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B211F"/>
                </a:solidFill>
                <a:latin typeface="Consolas"/>
              </a:rPr>
              <a:t>The one honest exception — and how rare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There is exactly one situation where the language model's output goes straight into the plan without the lab checking it first: when a step is diagnosed as fundamentally the wrong thing to attempt, it's asked to propose a direct replacement, accepted as-is.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457200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200" b="1" i="0">
                <a:solidFill>
                  <a:srgbClr val="1F6F5C"/>
                </a:solidFill>
                <a:latin typeface="Consolas"/>
              </a:rPr>
              <a:t>2</a:t>
            </a:r>
            <a:r>
              <a:rPr sz="3000" b="1" i="0">
                <a:solidFill>
                  <a:srgbClr val="8A968F"/>
                </a:solidFill>
                <a:latin typeface="Consolas"/>
              </a:rPr>
              <a:t> / 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611880"/>
            <a:ext cx="59436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C6B66"/>
                </a:solidFill>
                <a:latin typeface="Calibri"/>
              </a:rPr>
              <a:t>diagnosed failures took this unverified path across both evaluation sets — under 1%.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C6B66"/>
                </a:solidFill>
                <a:latin typeface="Calibri"/>
              </a:rPr>
              <a:t>Everywhere else — the other </a:t>
            </a:r>
            <a:r>
              <a:rPr sz="1500" b="1" i="0">
                <a:solidFill>
                  <a:srgbClr val="1B211F"/>
                </a:solidFill>
                <a:latin typeface="Calibri"/>
              </a:rPr>
              <a:t>99%+</a:t>
            </a:r>
            <a:r>
              <a:rPr sz="1500" b="0" i="0">
                <a:solidFill>
                  <a:srgbClr val="5C6B66"/>
                </a:solidFill>
                <a:latin typeface="Calibri"/>
              </a:rPr>
              <a:t> — every suggestion passes through the lab before anything reaches the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11 · WHY A LANGUAGE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B211F"/>
                </a:solidFill>
                <a:latin typeface="Consolas"/>
              </a:rPr>
              <a:t>Judgment narrows it. Verification makes it exact.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87752"/>
            <a:ext cx="9985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Judgment picks a short list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From thousands of raw possibilities down to a handful of plausible ones, in a single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16936"/>
            <a:ext cx="9985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66"/>
                </a:solidFill>
                <a:latin typeface="Calibri"/>
              </a:rPr>
              <a:t>No everyday common sense is built into the rules themselves.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3931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621024"/>
            <a:ext cx="9985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Verification makes it exact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Nothing reaches the plan unless it genuinely, provably satisfies what's missing.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7083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352544"/>
            <a:ext cx="9985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Neither half is enough alone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Judgment without checking would occasionally accept something that looks right but isn't.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681728"/>
            <a:ext cx="9985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66"/>
                </a:solidFill>
                <a:latin typeface="Calibri"/>
              </a:rPr>
              <a:t>Checking without judgment would have to search enormously to find what a person would guess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12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Does the loop actually help?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07492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7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6B66"/>
                </a:solidFill>
                <a:latin typeface="Consolas"/>
              </a:rPr>
              <a:t>EVERYDAY TASKS — 342 OF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39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6"/>
                </a:solidFill>
                <a:latin typeface="Calibri"/>
              </a:rPr>
              <a:t>No repair, best of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33471"/>
            <a:ext cx="1920240" cy="310896"/>
          </a:xfrm>
          <a:prstGeom prst="roundRect">
            <a:avLst>
              <a:gd name="adj" fmla="val 3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633471"/>
            <a:ext cx="1495866" cy="310896"/>
          </a:xfrm>
          <a:prstGeom prst="roundRect">
            <a:avLst>
              <a:gd name="adj" fmla="val 30000"/>
            </a:avLst>
          </a:prstGeom>
          <a:solidFill>
            <a:srgbClr val="8A9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606039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11F"/>
                </a:solidFill>
                <a:latin typeface="Consolas"/>
              </a:rPr>
              <a:t>77.9%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59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6"/>
                </a:solidFill>
                <a:latin typeface="Calibri"/>
              </a:rPr>
              <a:t>With the repair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136391"/>
            <a:ext cx="1920240" cy="310896"/>
          </a:xfrm>
          <a:prstGeom prst="roundRect">
            <a:avLst>
              <a:gd name="adj" fmla="val 3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3136391"/>
            <a:ext cx="1739737" cy="310896"/>
          </a:xfrm>
          <a:prstGeom prst="roundRect">
            <a:avLst>
              <a:gd name="adj" fmla="val 30000"/>
            </a:avLst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3108959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11F"/>
                </a:solidFill>
                <a:latin typeface="Consolas"/>
              </a:rPr>
              <a:t>90.6%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30751"/>
            <a:ext cx="4526280" cy="18288"/>
          </a:xfrm>
          <a:prstGeom prst="roundRect">
            <a:avLst>
              <a:gd name="adj" fmla="val 0"/>
            </a:avLst>
          </a:prstGeom>
          <a:solidFill>
            <a:srgbClr val="DC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4047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B211F"/>
                </a:solidFill>
                <a:latin typeface="Consolas"/>
              </a:rPr>
              <a:t>+12.7pt</a:t>
            </a:r>
            <a:r>
              <a:rPr sz="1100" b="0" i="0">
                <a:solidFill>
                  <a:srgbClr val="8A968F"/>
                </a:solidFill>
                <a:latin typeface="Calibri"/>
              </a:rPr>
              <a:t> over three independent, unguided attempts.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74519"/>
            <a:ext cx="507492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75687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C6B66"/>
                </a:solidFill>
                <a:latin typeface="Consolas"/>
              </a:rPr>
              <a:t>DELIBERATELY HARD TASKS — 50 OF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06039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6"/>
                </a:solidFill>
                <a:latin typeface="Calibri"/>
              </a:rPr>
              <a:t>No repair, best of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2633471"/>
            <a:ext cx="1920240" cy="310896"/>
          </a:xfrm>
          <a:prstGeom prst="roundRect">
            <a:avLst>
              <a:gd name="adj" fmla="val 3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58200" y="2633471"/>
            <a:ext cx="280355" cy="310896"/>
          </a:xfrm>
          <a:prstGeom prst="roundRect">
            <a:avLst>
              <a:gd name="adj" fmla="val 30000"/>
            </a:avLst>
          </a:prstGeom>
          <a:solidFill>
            <a:srgbClr val="8A9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1592" y="2606039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11F"/>
                </a:solidFill>
                <a:latin typeface="Consolas"/>
              </a:rPr>
              <a:t>14.6%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08959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66"/>
                </a:solidFill>
                <a:latin typeface="Calibri"/>
              </a:rPr>
              <a:t>With the repair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3136391"/>
            <a:ext cx="1920240" cy="310896"/>
          </a:xfrm>
          <a:prstGeom prst="roundRect">
            <a:avLst>
              <a:gd name="adj" fmla="val 30000"/>
            </a:avLst>
          </a:prstGeom>
          <a:solidFill>
            <a:srgbClr val="EE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58200" y="3136391"/>
            <a:ext cx="960120" cy="310896"/>
          </a:xfrm>
          <a:prstGeom prst="roundRect">
            <a:avLst>
              <a:gd name="adj" fmla="val 30000"/>
            </a:avLst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51592" y="3108959"/>
            <a:ext cx="685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11F"/>
                </a:solidFill>
                <a:latin typeface="Consolas"/>
              </a:rPr>
              <a:t>50.0%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730751"/>
            <a:ext cx="4526280" cy="18288"/>
          </a:xfrm>
          <a:prstGeom prst="roundRect">
            <a:avLst>
              <a:gd name="adj" fmla="val 0"/>
            </a:avLst>
          </a:prstGeom>
          <a:solidFill>
            <a:srgbClr val="DC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84047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B211F"/>
                </a:solidFill>
                <a:latin typeface="Consolas"/>
              </a:rPr>
              <a:t>3.4×</a:t>
            </a:r>
            <a:r>
              <a:rPr sz="1100" b="0" i="0">
                <a:solidFill>
                  <a:srgbClr val="8A968F"/>
                </a:solidFill>
                <a:latin typeface="Calibri"/>
              </a:rPr>
              <a:t> better than best-of-3 unguided attempts.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61772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C6B66"/>
                </a:solidFill>
                <a:latin typeface="Calibri"/>
              </a:rPr>
              <a:t>The repair loop makes one careful pass with up to three fix attempts — it isn't “three independent guesses,” it's three informed ones.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13 · RESULTS — EVERYDAY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342 tasks: where the fixes 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968F"/>
                </a:solidFill>
                <a:latin typeface="Consolas"/>
              </a:rPr>
              <a:t>HOW EACH FAILURE GOT HANDLED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011680"/>
          <a:ext cx="5212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6916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968F"/>
                </a:solidFill>
                <a:latin typeface="Consolas"/>
              </a:rPr>
              <a:t>...AND WHETHER IT ACTUALLY WORKED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0" y="2011680"/>
          <a:ext cx="53949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332720" cy="18288"/>
          </a:xfrm>
          <a:prstGeom prst="roundRect">
            <a:avLst>
              <a:gd name="adj" fmla="val 0"/>
            </a:avLst>
          </a:prstGeom>
          <a:solidFill>
            <a:srgbClr val="DC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779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211F"/>
                </a:solidFill>
                <a:latin typeface="Consolas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44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68F"/>
                </a:solidFill>
                <a:latin typeface="Consolas"/>
              </a:rPr>
              <a:t>FAILURES ACROSS
68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779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211F"/>
                </a:solidFill>
                <a:latin typeface="Consolas"/>
              </a:rPr>
              <a:t>85.4%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6144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68F"/>
                </a:solidFill>
                <a:latin typeface="Consolas"/>
              </a:rPr>
              <a:t>FIXED
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779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211F"/>
                </a:solidFill>
                <a:latin typeface="Consolas"/>
              </a:rPr>
              <a:t>1 of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144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68F"/>
                </a:solidFill>
                <a:latin typeface="Consolas"/>
              </a:rPr>
              <a:t>“CAN'T DO THAT”
PATCHES WORKED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14 · RESULTS — HARD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50 hard tasks: where the fixes 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968F"/>
                </a:solidFill>
                <a:latin typeface="Consolas"/>
              </a:rPr>
              <a:t>HOW EACH FAILURE GOT HANDLED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011680"/>
          <a:ext cx="5212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6916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968F"/>
                </a:solidFill>
                <a:latin typeface="Consolas"/>
              </a:rPr>
              <a:t>...AND WHETHER IT ACTUALLY WORKED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0" y="2011680"/>
          <a:ext cx="53949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332720" cy="18288"/>
          </a:xfrm>
          <a:prstGeom prst="roundRect">
            <a:avLst>
              <a:gd name="adj" fmla="val 0"/>
            </a:avLst>
          </a:prstGeom>
          <a:solidFill>
            <a:srgbClr val="DC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779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211F"/>
                </a:solidFill>
                <a:latin typeface="Consolas"/>
              </a:rPr>
              <a:t>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44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68F"/>
                </a:solidFill>
                <a:latin typeface="Consolas"/>
              </a:rPr>
              <a:t>FAILURES ACROSS
43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779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211F"/>
                </a:solidFill>
                <a:latin typeface="Consolas"/>
              </a:rPr>
              <a:t>97.4%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6144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68F"/>
                </a:solidFill>
                <a:latin typeface="Consolas"/>
              </a:rPr>
              <a:t>FIXED
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779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B211F"/>
                </a:solidFill>
                <a:latin typeface="Consolas"/>
              </a:rPr>
              <a:t>33 of 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61447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968F"/>
                </a:solidFill>
                <a:latin typeface="Consolas"/>
              </a:rPr>
              <a:t>TASKS USED
ALL 3 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15 ·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What the numbers actually say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87752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The loop fixes 85–97% of what it diagnoses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From a short list of ideas per failure, every one independently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16936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C6B66"/>
                </a:solidFill>
                <a:latin typeface="Calibri"/>
              </a:rPr>
              <a:t>The remaining gap is mostly one narrow, known weak spot, not broad unreliability.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6674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648456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The “object can't do that” weak spot depends heavily on the task mix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Only 1 of 15 such patches worked on everyday tasks (driven by “go to sleep”-type tasks), but 13 of 14 worked on the hard set, which doesn't include that task type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2569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407408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5C"/>
                </a:solidFill>
                <a:latin typeface="Calibri"/>
              </a:rPr>
              <a:t>The 3-try limit is a real ceiling, not a formality  </a:t>
            </a:r>
            <a:r>
              <a:rPr sz="1500" b="0" i="0">
                <a:solidFill>
                  <a:srgbClr val="1B211F"/>
                </a:solidFill>
                <a:latin typeface="Calibri"/>
              </a:rPr>
              <a:t>33 of 43 repaired hard tasks used all three tries — some recovery headroom is being traded for that tighter limit.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4023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6F5C"/>
                </a:solidFill>
                <a:latin typeface="Consola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B211F"/>
                </a:solidFill>
                <a:latin typeface="Consolas"/>
              </a:rPr>
              <a:t>The short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96312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1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Most failures aren't random — the system can trace almost all of them back to one exact, identifiable cause.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1071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92424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2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A language model supplies judgment about what makes sense; formal rules supply the guarantee that only a genuinely valid fix ever gets used — and that guarantee holds for over 99% of every repair attempted.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0682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E4F1EC"/>
          </a:solidFill>
          <a:ln w="9525">
            <a:solidFill>
              <a:srgbClr val="DC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F5C"/>
                </a:solidFill>
                <a:latin typeface="Consola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288536"/>
            <a:ext cx="10076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F6F5C"/>
                </a:solidFill>
                <a:latin typeface="Calibri"/>
              </a:rPr>
              <a:t>3  </a:t>
            </a:r>
            <a:r>
              <a:rPr sz="1550" b="0" i="0">
                <a:solidFill>
                  <a:srgbClr val="1B211F"/>
                </a:solidFill>
                <a:latin typeface="Calibri"/>
              </a:rPr>
              <a:t>That combination is what turns a plan that breaks constantly into one that recovers on its own, in 9 out of 10 cases, across two very different task 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28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68F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